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" charset="1" panose="020F0502020204030204"/>
      <p:regular r:id="rId19"/>
    </p:embeddedFont>
    <p:embeddedFont>
      <p:font typeface="Roboto Bold" charset="1" panose="02000000000000000000"/>
      <p:regular r:id="rId20"/>
    </p:embeddedFont>
    <p:embeddedFont>
      <p:font typeface="Roboto" charset="1" panose="02000000000000000000"/>
      <p:regular r:id="rId21"/>
    </p:embeddedFont>
    <p:embeddedFont>
      <p:font typeface="PT Serif" charset="1" panose="020A0603040505020204"/>
      <p:regular r:id="rId22"/>
    </p:embeddedFont>
    <p:embeddedFont>
      <p:font typeface="Calibri (MS) Bold" charset="1" panose="020F0702030404030204"/>
      <p:regular r:id="rId23"/>
    </p:embeddedFont>
    <p:embeddedFont>
      <p:font typeface="Canva Sans" charset="1" panose="020B0503030501040103"/>
      <p:regular r:id="rId24"/>
    </p:embeddedFont>
    <p:embeddedFont>
      <p:font typeface="PT Serif Bold" charset="1" panose="020A0703040505020204"/>
      <p:regular r:id="rId25"/>
    </p:embeddedFont>
    <p:embeddedFont>
      <p:font typeface="Calibri (MS) Italics" charset="1" panose="020F05020202040A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3291840"/>
            <a:ext cx="16322040" cy="1371600"/>
            <a:chOff x="0" y="0"/>
            <a:chExt cx="2176272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871" r="0" b="-18187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762720" cy="195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0200" y="4733637"/>
            <a:ext cx="16322040" cy="822960"/>
            <a:chOff x="0" y="0"/>
            <a:chExt cx="2176272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53" r="0" b="-33645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762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EdTech Learning Analytics: Reconciling Completion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1600200" y="6337647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true" flipV="true" rot="0">
            <a:off x="11673891" y="0"/>
            <a:ext cx="6614109" cy="10287000"/>
          </a:xfrm>
          <a:custGeom>
            <a:avLst/>
            <a:gdLst/>
            <a:ahLst/>
            <a:cxnLst/>
            <a:rect r="r" b="b" t="t" l="l"/>
            <a:pathLst>
              <a:path h="10287000" w="6614109">
                <a:moveTo>
                  <a:pt x="6614109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614109" y="0"/>
                </a:lnTo>
                <a:lnTo>
                  <a:pt x="6614109" y="10287000"/>
                </a:lnTo>
                <a:close/>
              </a:path>
            </a:pathLst>
          </a:custGeom>
          <a:blipFill>
            <a:blip r:embed="rId4"/>
            <a:stretch>
              <a:fillRect l="-99999" t="-14295" r="0" b="-1429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00200" y="3046824"/>
            <a:ext cx="7543800" cy="156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1"/>
              </a:lnSpc>
            </a:pPr>
            <a:r>
              <a:rPr lang="en-US" sz="9000" spc="-36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Lumen Lyceum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0200" y="7686600"/>
            <a:ext cx="433722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CAPSTONE CASE STUDY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0200" y="7058903"/>
            <a:ext cx="61838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128">
                <a:solidFill>
                  <a:srgbClr val="000000">
                    <a:alpha val="69804"/>
                  </a:srgbClr>
                </a:solidFill>
                <a:latin typeface="PT Serif"/>
                <a:ea typeface="PT Serif"/>
                <a:cs typeface="PT Serif"/>
                <a:sym typeface="PT Serif"/>
              </a:rPr>
              <a:t>Analytics Engineering Fellowship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0200" y="9274735"/>
            <a:ext cx="433722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ABIOLA OGUNBAJO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Background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972594"/>
            <a:ext cx="6923762" cy="239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pc="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Lumen Lyceum is an online learning platform selling self-paced courses. A learner enrols, works through lessons, and sits a final exam. The unit of analysis is the enrolment, not the student, since one person can enrol in multiple courses or re-enr</a:t>
            </a:r>
            <a:r>
              <a:rPr lang="en-US" sz="2300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ol in the sa</a:t>
            </a:r>
            <a:r>
              <a:rPr lang="en-US" sz="2300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 </a:t>
            </a:r>
            <a:r>
              <a:rPr lang="en-US" sz="2300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623958"/>
            <a:ext cx="593120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TWO TEAMS, TWO DASHBOARDS, ONE PLATFORM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571649"/>
            <a:ext cx="6923762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pc="4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Two teams each run their own dashboard to track how well learners finish their courses, and the dashboards have never agreed</a:t>
            </a:r>
            <a:r>
              <a:rPr lang="en-US" sz="2300" spc="46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140353" y="3681108"/>
            <a:ext cx="6148553" cy="1877119"/>
            <a:chOff x="0" y="0"/>
            <a:chExt cx="10266680" cy="3134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66680" cy="3134360"/>
            </a:xfrm>
            <a:custGeom>
              <a:avLst/>
              <a:gdLst/>
              <a:ahLst/>
              <a:cxnLst/>
              <a:rect r="r" b="b" t="t" l="l"/>
              <a:pathLst>
                <a:path h="3134360" w="102666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119233" y="0"/>
                  </a:lnTo>
                  <a:cubicBezTo>
                    <a:pt x="10200639" y="0"/>
                    <a:pt x="10266680" y="66040"/>
                    <a:pt x="10266680" y="147447"/>
                  </a:cubicBezTo>
                  <a:lnTo>
                    <a:pt x="10266680" y="2986913"/>
                  </a:lnTo>
                  <a:cubicBezTo>
                    <a:pt x="10266680" y="3068320"/>
                    <a:pt x="10200639" y="3134360"/>
                    <a:pt x="101192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FF0F0"/>
            </a:solidFill>
            <a:ln w="19050" cap="sq">
              <a:solidFill>
                <a:srgbClr val="FFF0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476531" y="3907762"/>
            <a:ext cx="5476198" cy="438096"/>
            <a:chOff x="0" y="0"/>
            <a:chExt cx="91440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Curriculum Team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6531" y="4345857"/>
            <a:ext cx="5476198" cy="985716"/>
            <a:chOff x="0" y="0"/>
            <a:chExt cx="914400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Measures completion by lesson progress: did the learner get through all the material.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40353" y="6257014"/>
            <a:ext cx="6148553" cy="1877119"/>
            <a:chOff x="0" y="0"/>
            <a:chExt cx="10266680" cy="3134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66680" cy="3134360"/>
            </a:xfrm>
            <a:custGeom>
              <a:avLst/>
              <a:gdLst/>
              <a:ahLst/>
              <a:cxnLst/>
              <a:rect r="r" b="b" t="t" l="l"/>
              <a:pathLst>
                <a:path h="3134360" w="1026668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119233" y="0"/>
                  </a:lnTo>
                  <a:cubicBezTo>
                    <a:pt x="10200639" y="0"/>
                    <a:pt x="10266680" y="66040"/>
                    <a:pt x="10266680" y="147447"/>
                  </a:cubicBezTo>
                  <a:lnTo>
                    <a:pt x="10266680" y="2986913"/>
                  </a:lnTo>
                  <a:cubicBezTo>
                    <a:pt x="10266680" y="3068320"/>
                    <a:pt x="10200639" y="3134360"/>
                    <a:pt x="10119233" y="3134360"/>
                  </a:cubicBezTo>
                  <a:lnTo>
                    <a:pt x="147447" y="3134360"/>
                  </a:lnTo>
                  <a:cubicBezTo>
                    <a:pt x="66040" y="3134360"/>
                    <a:pt x="0" y="3068320"/>
                    <a:pt x="0" y="2986913"/>
                  </a:cubicBezTo>
                  <a:close/>
                </a:path>
              </a:pathLst>
            </a:custGeom>
            <a:solidFill>
              <a:srgbClr val="FFF4E6"/>
            </a:solidFill>
            <a:ln w="19050" cap="sq">
              <a:solidFill>
                <a:srgbClr val="FFF0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476531" y="6483668"/>
            <a:ext cx="5476198" cy="438096"/>
            <a:chOff x="0" y="0"/>
            <a:chExt cx="91440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Credentialing Team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76531" y="6921764"/>
            <a:ext cx="5476198" cy="985716"/>
            <a:chOff x="0" y="0"/>
            <a:chExt cx="914400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1440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Measures completion by exam outcome: did the learner pass the final assessment.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52400"/>
              <a:ext cx="2408296" cy="2861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665758" y="2216907"/>
            <a:ext cx="1604465" cy="16044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76200"/>
              <a:ext cx="6604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5758" y="6164093"/>
            <a:ext cx="1604465" cy="16044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8A8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76200"/>
              <a:ext cx="6604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980917" y="2556420"/>
            <a:ext cx="974146" cy="925439"/>
          </a:xfrm>
          <a:custGeom>
            <a:avLst/>
            <a:gdLst/>
            <a:ahLst/>
            <a:cxnLst/>
            <a:rect r="r" b="b" t="t" l="l"/>
            <a:pathLst>
              <a:path h="925439" w="974146">
                <a:moveTo>
                  <a:pt x="0" y="0"/>
                </a:moveTo>
                <a:lnTo>
                  <a:pt x="974147" y="0"/>
                </a:lnTo>
                <a:lnTo>
                  <a:pt x="974147" y="925439"/>
                </a:lnTo>
                <a:lnTo>
                  <a:pt x="0" y="925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966463" y="6467305"/>
            <a:ext cx="1003055" cy="998040"/>
          </a:xfrm>
          <a:custGeom>
            <a:avLst/>
            <a:gdLst/>
            <a:ahLst/>
            <a:cxnLst/>
            <a:rect r="r" b="b" t="t" l="l"/>
            <a:pathLst>
              <a:path h="998040" w="1003055">
                <a:moveTo>
                  <a:pt x="0" y="0"/>
                </a:moveTo>
                <a:lnTo>
                  <a:pt x="1003055" y="0"/>
                </a:lnTo>
                <a:lnTo>
                  <a:pt x="1003055" y="998040"/>
                </a:lnTo>
                <a:lnTo>
                  <a:pt x="0" y="998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828566"/>
            <a:ext cx="6923762" cy="297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Two teams, two dashboards, two different num</a:t>
            </a: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bers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Same enrolments. Same platform.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pc="55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15-point gap that neither dashboard explains.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34426" y="2364701"/>
            <a:ext cx="3481321" cy="128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1"/>
              </a:lnSpc>
              <a:spcBef>
                <a:spcPct val="0"/>
              </a:spcBef>
            </a:pPr>
            <a:r>
              <a:rPr lang="en-US" b="true" sz="7493" spc="-299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45.</a:t>
            </a:r>
            <a:r>
              <a:rPr lang="en-US" b="true" sz="7493" spc="-299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34426" y="3752724"/>
            <a:ext cx="5524874" cy="105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1"/>
              </a:lnSpc>
              <a:spcBef>
                <a:spcPct val="0"/>
              </a:spcBef>
            </a:pP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COMPLE</a:t>
            </a: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TION, MEASURED AS % OF LESSONS FINISHED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34426" y="1800860"/>
            <a:ext cx="5524874" cy="52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1"/>
              </a:lnSpc>
              <a:spcBef>
                <a:spcPct val="0"/>
              </a:spcBef>
            </a:pP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URRICULUM TEAM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34426" y="6311887"/>
            <a:ext cx="3481321" cy="128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1"/>
              </a:lnSpc>
              <a:spcBef>
                <a:spcPct val="0"/>
              </a:spcBef>
            </a:pPr>
            <a:r>
              <a:rPr lang="en-US" b="true" sz="7493" spc="-299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29.9</a:t>
            </a:r>
            <a:r>
              <a:rPr lang="en-US" b="true" sz="7493" spc="-299">
                <a:solidFill>
                  <a:srgbClr val="000000">
                    <a:alpha val="69804"/>
                  </a:srgbClr>
                </a:solidFill>
                <a:latin typeface="PT Serif Bold"/>
                <a:ea typeface="PT Serif Bold"/>
                <a:cs typeface="PT Serif Bold"/>
                <a:sym typeface="PT Serif Bold"/>
              </a:rPr>
              <a:t>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34426" y="7699909"/>
            <a:ext cx="5524874" cy="157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1"/>
              </a:lnSpc>
              <a:spcBef>
                <a:spcPct val="0"/>
              </a:spcBef>
            </a:pP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COMPLE</a:t>
            </a: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TION, MEASURED AS % WHO PASSED THE FINAL EXAM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34426" y="5748046"/>
            <a:ext cx="5524874" cy="52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1"/>
              </a:lnSpc>
              <a:spcBef>
                <a:spcPct val="0"/>
              </a:spcBef>
            </a:pP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3015" spc="180">
                <a:solidFill>
                  <a:srgbClr val="000000">
                    <a:alpha val="6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REDENTIALING TEAM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THE APPROACH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23958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M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ODEL BOTH DEFINITIONS: DON'T PICK A WINNER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60990" y="4361635"/>
            <a:ext cx="652124" cy="652124"/>
            <a:chOff x="0" y="0"/>
            <a:chExt cx="914400" cy="91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048E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60990" y="4361635"/>
            <a:ext cx="652124" cy="652124"/>
            <a:chOff x="0" y="0"/>
            <a:chExt cx="9144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5347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73963" y="4296423"/>
            <a:ext cx="5999541" cy="782549"/>
            <a:chOff x="0" y="0"/>
            <a:chExt cx="84124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12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412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Stage raw data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73963" y="4778995"/>
            <a:ext cx="14085880" cy="717336"/>
            <a:chOff x="0" y="0"/>
            <a:chExt cx="197510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7510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7510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and deduplicate the 4 raw tables (students, courses, lessons, assessments) without imposing business logic yet.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0990" y="5861521"/>
            <a:ext cx="652124" cy="652124"/>
            <a:chOff x="0" y="0"/>
            <a:chExt cx="9144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048E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60990" y="5861521"/>
            <a:ext cx="652124" cy="652124"/>
            <a:chOff x="0" y="0"/>
            <a:chExt cx="9144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5347">
                <a:alpha val="0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73963" y="5796308"/>
            <a:ext cx="5999541" cy="782549"/>
            <a:chOff x="0" y="0"/>
            <a:chExt cx="841248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12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412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both definitions explicitly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73963" y="6278880"/>
            <a:ext cx="14085880" cy="717336"/>
            <a:chOff x="0" y="0"/>
            <a:chExt cx="197510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7510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7510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int_lesson_completion (Curriculum's view) and int_assessment_outcome (Credentialing's view), kept as separate, named signals.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0990" y="7361406"/>
            <a:ext cx="652124" cy="652124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048E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60990" y="7361406"/>
            <a:ext cx="652124" cy="652124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73963" y="7296193"/>
            <a:ext cx="5999541" cy="782549"/>
            <a:chOff x="0" y="0"/>
            <a:chExt cx="84124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412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412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one enrolment-grain mart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73963" y="7778765"/>
            <a:ext cx="14085880" cy="717336"/>
            <a:chOff x="0" y="0"/>
            <a:chExt cx="1975104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7510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7510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fct_enrollments carries both flags side by side, plus a reconciliation bucket, never collapsed into a single 'completion' column.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60990" y="8861291"/>
            <a:ext cx="652124" cy="652124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7048E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60990" y="8861291"/>
            <a:ext cx="652124" cy="652124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73963" y="8796079"/>
            <a:ext cx="5999541" cy="782549"/>
            <a:chOff x="0" y="0"/>
            <a:chExt cx="841248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412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4124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Reconcile, don't resolve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973963" y="9278651"/>
            <a:ext cx="14085880" cy="717336"/>
            <a:chOff x="0" y="0"/>
            <a:chExt cx="1975104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7510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615" r="0" b="-33261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97510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dedicated model explains the gap instead of silently picking one number as the truth.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02-architecture-diagram.svg"/>
          <p:cNvSpPr/>
          <p:nvPr/>
        </p:nvSpPr>
        <p:spPr>
          <a:xfrm flipH="false" flipV="false" rot="0">
            <a:off x="388620" y="2570438"/>
            <a:ext cx="16870680" cy="7612380"/>
          </a:xfrm>
          <a:custGeom>
            <a:avLst/>
            <a:gdLst/>
            <a:ahLst/>
            <a:cxnLst/>
            <a:rect r="r" b="b" t="t" l="l"/>
            <a:pathLst>
              <a:path h="7612380" w="16870680">
                <a:moveTo>
                  <a:pt x="0" y="0"/>
                </a:moveTo>
                <a:lnTo>
                  <a:pt x="16870680" y="0"/>
                </a:lnTo>
                <a:lnTo>
                  <a:pt x="16870680" y="7612380"/>
                </a:lnTo>
                <a:lnTo>
                  <a:pt x="0" y="7612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841" r="0" b="-284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172593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-2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ARCHITECTURE - Source to dashboard, orchestrated daily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977640"/>
            <a:ext cx="16322040" cy="932688"/>
            <a:chOff x="0" y="0"/>
            <a:chExt cx="21762720" cy="1243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0180" y="3977640"/>
            <a:ext cx="13030200" cy="932688"/>
            <a:chOff x="0" y="0"/>
            <a:chExt cx="17373600" cy="12435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736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0" b="-22221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3736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Incomplete on both definitions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3978974"/>
            <a:ext cx="2331720" cy="932688"/>
            <a:chOff x="0" y="0"/>
            <a:chExt cx="3108960" cy="12435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08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108960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6666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50.4%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074920"/>
            <a:ext cx="16322040" cy="932688"/>
            <a:chOff x="0" y="0"/>
            <a:chExt cx="21762720" cy="12435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180" y="5074920"/>
            <a:ext cx="13030200" cy="932688"/>
            <a:chOff x="0" y="0"/>
            <a:chExt cx="17373600" cy="12435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736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0" b="-22221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3736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Finished lessons and passed the exam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538960" y="5073587"/>
            <a:ext cx="2331720" cy="932688"/>
            <a:chOff x="0" y="0"/>
            <a:chExt cx="3108960" cy="12435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08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108960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12B8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25.2%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172200"/>
            <a:ext cx="16322040" cy="932688"/>
            <a:chOff x="0" y="0"/>
            <a:chExt cx="21762720" cy="12435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62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40180" y="6172200"/>
            <a:ext cx="13030200" cy="932688"/>
            <a:chOff x="0" y="0"/>
            <a:chExt cx="17373600" cy="12435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3736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0" b="-22221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73736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Finished lessons, never sat or failed the exam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538960" y="6169533"/>
            <a:ext cx="2331720" cy="932688"/>
            <a:chOff x="0" y="0"/>
            <a:chExt cx="3108960" cy="12435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08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108960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E889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19.8%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7269480"/>
            <a:ext cx="16322040" cy="932688"/>
            <a:chOff x="0" y="0"/>
            <a:chExt cx="21762720" cy="12435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7627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5F5F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40180" y="7269480"/>
            <a:ext cx="13030200" cy="932688"/>
            <a:chOff x="0" y="0"/>
            <a:chExt cx="17373600" cy="12435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373600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217" r="0" b="-22221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7373600" cy="1281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Tested out: passed without finishing every lesson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538960" y="7269480"/>
            <a:ext cx="2331720" cy="932688"/>
            <a:chOff x="0" y="0"/>
            <a:chExt cx="3108960" cy="12435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08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3108960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b="true">
                  <a:solidFill>
                    <a:srgbClr val="704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4.6%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8503920"/>
            <a:ext cx="16322040" cy="960120"/>
            <a:chOff x="0" y="0"/>
            <a:chExt cx="2176272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76272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1A1A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Bridge: 45.0% finished every lesson (25.2 + 19.8). Of those, 25.2 points also passed. 19.8 points finished lessons but never sat or failed the exam, the largest driver of the gap. A further 4.6% tested out. Net: 25.2 + 4.6 ≈ 29.9%.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00" y="9464040"/>
            <a:ext cx="16322040" cy="822960"/>
            <a:chOff x="0" y="0"/>
            <a:chExt cx="2176272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762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453" r="0" b="-3364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17627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0313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Platform status disagreement: 162 enrolments marked "completed" never passed the exam. 2,068 "tested out" enrolments are NOT marked "completed" at all.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DELIVERABLE 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3400425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BRI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DGING THE 45.0% TO 29.9% GAP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697999"/>
            <a:ext cx="7837170" cy="5368290"/>
            <a:chOff x="0" y="0"/>
            <a:chExt cx="10449560" cy="7157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9560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44956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302748" y="0"/>
                  </a:lnTo>
                  <a:cubicBezTo>
                    <a:pt x="10383774" y="0"/>
                    <a:pt x="10449560" y="65786"/>
                    <a:pt x="10449560" y="146812"/>
                  </a:cubicBezTo>
                  <a:lnTo>
                    <a:pt x="10449560" y="7010908"/>
                  </a:lnTo>
                  <a:cubicBezTo>
                    <a:pt x="10449560" y="7091934"/>
                    <a:pt x="10383774" y="7157720"/>
                    <a:pt x="10302748" y="7157720"/>
                  </a:cubicBezTo>
                  <a:lnTo>
                    <a:pt x="146812" y="7157720"/>
                  </a:lnTo>
                  <a:cubicBezTo>
                    <a:pt x="65786" y="7157720"/>
                    <a:pt x="0" y="7091934"/>
                    <a:pt x="0" y="7010908"/>
                  </a:cubicBezTo>
                  <a:close/>
                </a:path>
              </a:pathLst>
            </a:custGeom>
            <a:solidFill>
              <a:srgbClr val="FFF0F0"/>
            </a:solidFill>
            <a:ln w="19050" cap="sq">
              <a:solidFill>
                <a:srgbClr val="E0313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49705" y="4981844"/>
            <a:ext cx="6995160" cy="548640"/>
            <a:chOff x="0" y="0"/>
            <a:chExt cx="932688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326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E031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severity: error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49705" y="5667644"/>
            <a:ext cx="6995160" cy="4114800"/>
            <a:chOff x="0" y="0"/>
            <a:chExt cx="9326880" cy="548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26880" cy="5486400"/>
            </a:xfrm>
            <a:custGeom>
              <a:avLst/>
              <a:gdLst/>
              <a:ahLst/>
              <a:cxnLst/>
              <a:rect r="r" b="b" t="t" l="l"/>
              <a:pathLst>
                <a:path h="54864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26880" cy="552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unique / not_null on primary keys (4 raw sources + mart)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relationships: course_id to stg_courses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accepted_range on pct_lessons_completed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fails; downstream models skipped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engineer paged via Slack/email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Last-good data served during the outage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32620" y="4697999"/>
            <a:ext cx="7837170" cy="5368290"/>
            <a:chOff x="0" y="0"/>
            <a:chExt cx="10449560" cy="7157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9560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44956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302748" y="0"/>
                  </a:lnTo>
                  <a:cubicBezTo>
                    <a:pt x="10383774" y="0"/>
                    <a:pt x="10449560" y="65786"/>
                    <a:pt x="10449560" y="146812"/>
                  </a:cubicBezTo>
                  <a:lnTo>
                    <a:pt x="10449560" y="7010908"/>
                  </a:lnTo>
                  <a:cubicBezTo>
                    <a:pt x="10449560" y="7091934"/>
                    <a:pt x="10383774" y="7157720"/>
                    <a:pt x="10302748" y="7157720"/>
                  </a:cubicBezTo>
                  <a:lnTo>
                    <a:pt x="146812" y="7157720"/>
                  </a:lnTo>
                  <a:cubicBezTo>
                    <a:pt x="65786" y="7157720"/>
                    <a:pt x="0" y="7091934"/>
                    <a:pt x="0" y="7010908"/>
                  </a:cubicBezTo>
                  <a:close/>
                </a:path>
              </a:pathLst>
            </a:custGeom>
            <a:solidFill>
              <a:srgbClr val="FFF9E6"/>
            </a:solidFill>
            <a:ln w="19050" cap="sq">
              <a:solidFill>
                <a:srgbClr val="F08C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953625" y="4981844"/>
            <a:ext cx="6995160" cy="548640"/>
            <a:chOff x="0" y="0"/>
            <a:chExt cx="93268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326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08C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severity: warn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53625" y="5667644"/>
            <a:ext cx="6995160" cy="4114800"/>
            <a:chOff x="0" y="0"/>
            <a:chExt cx="9326880" cy="548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26880" cy="5486400"/>
            </a:xfrm>
            <a:custGeom>
              <a:avLst/>
              <a:gdLst/>
              <a:ahLst/>
              <a:cxnLst/>
              <a:rect r="r" b="b" t="t" l="l"/>
              <a:pathLst>
                <a:path h="54864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326880" cy="552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accepted_values on completion_reconciled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Unexpected-but-not-catastrophic anomalies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Logged in run_results.json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continues normally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Surfaced in a daily digest, not paged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 tests passing total across the pipeline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DELIVERABLE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400425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PIPEL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INE MONITORING AND TEST SEVERITY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620694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0082" y="4839466"/>
            <a:ext cx="2566035" cy="1537335"/>
            <a:chOff x="0" y="0"/>
            <a:chExt cx="3421380" cy="2049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0313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74370" y="4853754"/>
            <a:ext cx="2537460" cy="1508760"/>
            <a:chOff x="0" y="0"/>
            <a:chExt cx="3383280" cy="2011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source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freshness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239262" y="5374962"/>
            <a:ext cx="288036" cy="480060"/>
            <a:chOff x="0" y="0"/>
            <a:chExt cx="384048" cy="640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4048" cy="640080"/>
            </a:xfrm>
            <a:custGeom>
              <a:avLst/>
              <a:gdLst/>
              <a:ahLst/>
              <a:cxnLst/>
              <a:rect r="r" b="b" t="t" l="l"/>
              <a:pathLst>
                <a:path h="640080" w="384048">
                  <a:moveTo>
                    <a:pt x="0" y="160020"/>
                  </a:moveTo>
                  <a:lnTo>
                    <a:pt x="192024" y="160020"/>
                  </a:lnTo>
                  <a:lnTo>
                    <a:pt x="192024" y="0"/>
                  </a:lnTo>
                  <a:lnTo>
                    <a:pt x="384048" y="320040"/>
                  </a:lnTo>
                  <a:lnTo>
                    <a:pt x="192024" y="640080"/>
                  </a:lnTo>
                  <a:lnTo>
                    <a:pt x="192024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540442" y="4839466"/>
            <a:ext cx="2566035" cy="1537335"/>
            <a:chOff x="0" y="0"/>
            <a:chExt cx="3421380" cy="20497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B5BD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554730" y="4853754"/>
            <a:ext cx="2537460" cy="1508760"/>
            <a:chOff x="0" y="0"/>
            <a:chExt cx="3383280" cy="2011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staging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19622" y="5374962"/>
            <a:ext cx="288036" cy="480060"/>
            <a:chOff x="0" y="0"/>
            <a:chExt cx="384048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4048" cy="640080"/>
            </a:xfrm>
            <a:custGeom>
              <a:avLst/>
              <a:gdLst/>
              <a:ahLst/>
              <a:cxnLst/>
              <a:rect r="r" b="b" t="t" l="l"/>
              <a:pathLst>
                <a:path h="640080" w="384048">
                  <a:moveTo>
                    <a:pt x="0" y="160020"/>
                  </a:moveTo>
                  <a:lnTo>
                    <a:pt x="192024" y="160020"/>
                  </a:lnTo>
                  <a:lnTo>
                    <a:pt x="192024" y="0"/>
                  </a:lnTo>
                  <a:lnTo>
                    <a:pt x="384048" y="320040"/>
                  </a:lnTo>
                  <a:lnTo>
                    <a:pt x="192024" y="640080"/>
                  </a:lnTo>
                  <a:lnTo>
                    <a:pt x="192024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20802" y="4839466"/>
            <a:ext cx="2566035" cy="1537335"/>
            <a:chOff x="0" y="0"/>
            <a:chExt cx="3421380" cy="20497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B5BD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435090" y="4853754"/>
            <a:ext cx="2537460" cy="1508760"/>
            <a:chOff x="0" y="0"/>
            <a:chExt cx="3383280" cy="2011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intermediate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99982" y="5374962"/>
            <a:ext cx="288036" cy="480060"/>
            <a:chOff x="0" y="0"/>
            <a:chExt cx="384048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4048" cy="640080"/>
            </a:xfrm>
            <a:custGeom>
              <a:avLst/>
              <a:gdLst/>
              <a:ahLst/>
              <a:cxnLst/>
              <a:rect r="r" b="b" t="t" l="l"/>
              <a:pathLst>
                <a:path h="640080" w="384048">
                  <a:moveTo>
                    <a:pt x="0" y="160020"/>
                  </a:moveTo>
                  <a:lnTo>
                    <a:pt x="192024" y="160020"/>
                  </a:lnTo>
                  <a:lnTo>
                    <a:pt x="192024" y="0"/>
                  </a:lnTo>
                  <a:lnTo>
                    <a:pt x="384048" y="320040"/>
                  </a:lnTo>
                  <a:lnTo>
                    <a:pt x="192024" y="640080"/>
                  </a:lnTo>
                  <a:lnTo>
                    <a:pt x="192024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01162" y="4839466"/>
            <a:ext cx="2566035" cy="1537335"/>
            <a:chOff x="0" y="0"/>
            <a:chExt cx="3421380" cy="20497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048E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315450" y="4853754"/>
            <a:ext cx="2537460" cy="1508760"/>
            <a:chOff x="0" y="0"/>
            <a:chExt cx="3383280" cy="2011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mart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80342" y="5374962"/>
            <a:ext cx="288036" cy="480060"/>
            <a:chOff x="0" y="0"/>
            <a:chExt cx="384048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4048" cy="640080"/>
            </a:xfrm>
            <a:custGeom>
              <a:avLst/>
              <a:gdLst/>
              <a:ahLst/>
              <a:cxnLst/>
              <a:rect r="r" b="b" t="t" l="l"/>
              <a:pathLst>
                <a:path h="640080" w="384048">
                  <a:moveTo>
                    <a:pt x="0" y="160020"/>
                  </a:moveTo>
                  <a:lnTo>
                    <a:pt x="192024" y="160020"/>
                  </a:lnTo>
                  <a:lnTo>
                    <a:pt x="192024" y="0"/>
                  </a:lnTo>
                  <a:lnTo>
                    <a:pt x="384048" y="320040"/>
                  </a:lnTo>
                  <a:lnTo>
                    <a:pt x="192024" y="640080"/>
                  </a:lnTo>
                  <a:lnTo>
                    <a:pt x="192024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181522" y="4839466"/>
            <a:ext cx="2566035" cy="1537335"/>
            <a:chOff x="0" y="0"/>
            <a:chExt cx="3421380" cy="20497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2B88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195810" y="4853754"/>
            <a:ext cx="2537460" cy="1508760"/>
            <a:chOff x="0" y="0"/>
            <a:chExt cx="3383280" cy="2011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760702" y="5374962"/>
            <a:ext cx="288036" cy="480060"/>
            <a:chOff x="0" y="0"/>
            <a:chExt cx="384048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4048" cy="640080"/>
            </a:xfrm>
            <a:custGeom>
              <a:avLst/>
              <a:gdLst/>
              <a:ahLst/>
              <a:cxnLst/>
              <a:rect r="r" b="b" t="t" l="l"/>
              <a:pathLst>
                <a:path h="640080" w="384048">
                  <a:moveTo>
                    <a:pt x="0" y="160020"/>
                  </a:moveTo>
                  <a:lnTo>
                    <a:pt x="192024" y="160020"/>
                  </a:lnTo>
                  <a:lnTo>
                    <a:pt x="192024" y="0"/>
                  </a:lnTo>
                  <a:lnTo>
                    <a:pt x="384048" y="320040"/>
                  </a:lnTo>
                  <a:lnTo>
                    <a:pt x="192024" y="640080"/>
                  </a:lnTo>
                  <a:lnTo>
                    <a:pt x="192024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5061882" y="4839466"/>
            <a:ext cx="2566035" cy="1537335"/>
            <a:chOff x="0" y="0"/>
            <a:chExt cx="3421380" cy="20497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421380" cy="2049780"/>
            </a:xfrm>
            <a:custGeom>
              <a:avLst/>
              <a:gdLst/>
              <a:ahLst/>
              <a:cxnLst/>
              <a:rect r="r" b="b" t="t" l="l"/>
              <a:pathLst>
                <a:path h="2049780" w="342138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3272282" y="0"/>
                  </a:lnTo>
                  <a:cubicBezTo>
                    <a:pt x="3354578" y="0"/>
                    <a:pt x="3421380" y="66802"/>
                    <a:pt x="3421380" y="149098"/>
                  </a:cubicBezTo>
                  <a:lnTo>
                    <a:pt x="3421380" y="1900682"/>
                  </a:lnTo>
                  <a:cubicBezTo>
                    <a:pt x="3421380" y="1982978"/>
                    <a:pt x="3354578" y="2049780"/>
                    <a:pt x="3272282" y="2049780"/>
                  </a:cubicBezTo>
                  <a:lnTo>
                    <a:pt x="149098" y="2049780"/>
                  </a:lnTo>
                  <a:cubicBezTo>
                    <a:pt x="66802" y="2049780"/>
                    <a:pt x="0" y="1982978"/>
                    <a:pt x="0" y="1900682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66666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5076170" y="4853754"/>
            <a:ext cx="2537460" cy="1508760"/>
            <a:chOff x="0" y="0"/>
            <a:chExt cx="3383280" cy="2011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832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288" t="0" r="-26288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338328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Generate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11530" y="7048314"/>
            <a:ext cx="4800600" cy="480060"/>
            <a:chOff x="0" y="0"/>
            <a:chExt cx="640080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B5BD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11530" y="7528374"/>
            <a:ext cx="5074920" cy="1645920"/>
            <a:chOff x="0" y="0"/>
            <a:chExt cx="6766560" cy="21945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Daily around 3 AM, after the overnight export; freshness check is the real gate, not the clock.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297930" y="7048314"/>
            <a:ext cx="4800600" cy="480060"/>
            <a:chOff x="0" y="0"/>
            <a:chExt cx="640080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B5BD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297930" y="7528374"/>
            <a:ext cx="5074920" cy="1645920"/>
            <a:chOff x="0" y="0"/>
            <a:chExt cx="6766560" cy="21945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Freshness/test failures alert the data team; run errors get 1 retry (5 min) before paging.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784330" y="7048314"/>
            <a:ext cx="4800600" cy="480060"/>
            <a:chOff x="0" y="0"/>
            <a:chExt cx="6400800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B5BD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Idempotency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784330" y="7528374"/>
            <a:ext cx="5074920" cy="1645920"/>
            <a:chOff x="0" y="0"/>
            <a:chExt cx="6766560" cy="21945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dbt run is safe to re-run, required given retries and manual reruns.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11530" y="9380034"/>
            <a:ext cx="16322040" cy="685800"/>
            <a:chOff x="0" y="0"/>
            <a:chExt cx="2176272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1762720" cy="914400"/>
            </a:xfrm>
            <a:custGeom>
              <a:avLst/>
              <a:gdLst/>
              <a:ahLst/>
              <a:cxnLst/>
              <a:rect r="r" b="b" t="t" l="l"/>
              <a:pathLst>
                <a:path h="91440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743" r="0" b="-4137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17627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666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Design and reasoning is the required deliverable. A running DAG (Airflow/Dagster/Prefect) is a stretch goal for a later iteration.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DELIVERABLE 5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8700" y="3400425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DAILY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 ORCHESTRATION DAG DESIGN</a:t>
            </a:r>
          </a:p>
        </p:txBody>
      </p:sp>
      <p:sp>
        <p:nvSpPr>
          <p:cNvPr name="AutoShape 65" id="65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6" id="6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073652"/>
            <a:ext cx="16341090" cy="3173730"/>
            <a:chOff x="0" y="0"/>
            <a:chExt cx="21788120" cy="4231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88120" cy="4231640"/>
            </a:xfrm>
            <a:custGeom>
              <a:avLst/>
              <a:gdLst/>
              <a:ahLst/>
              <a:cxnLst/>
              <a:rect r="r" b="b" t="t" l="l"/>
              <a:pathLst>
                <a:path h="4231640" w="217881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1640927" y="0"/>
                  </a:lnTo>
                  <a:cubicBezTo>
                    <a:pt x="21722207" y="0"/>
                    <a:pt x="21788120" y="65913"/>
                    <a:pt x="21788120" y="147193"/>
                  </a:cubicBezTo>
                  <a:lnTo>
                    <a:pt x="21788120" y="4084447"/>
                  </a:lnTo>
                  <a:cubicBezTo>
                    <a:pt x="21788120" y="4165727"/>
                    <a:pt x="21722207" y="4231640"/>
                    <a:pt x="2164092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FF0F0"/>
            </a:solidFill>
            <a:ln w="19050" cap="sq">
              <a:solidFill>
                <a:srgbClr val="E03131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449705" y="4357497"/>
            <a:ext cx="15499080" cy="548640"/>
            <a:chOff x="0" y="0"/>
            <a:chExt cx="2066544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665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452" r="0" b="-50045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0665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E031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Corrupted raw timestamps (enrolled_at, last_active_at)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49705" y="4974717"/>
            <a:ext cx="15499080" cy="2057400"/>
            <a:chOff x="0" y="0"/>
            <a:chExt cx="20665440" cy="274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65439" cy="2743200"/>
            </a:xfrm>
            <a:custGeom>
              <a:avLst/>
              <a:gdLst/>
              <a:ahLst/>
              <a:cxnLst/>
              <a:rect r="r" b="b" t="t" l="l"/>
              <a:pathLst>
                <a:path h="27432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787" r="0" b="-967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665440" cy="278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Loaded into Snowflake as nonsensical values (e.g. year -1,688,798,502) via the data generator's write_pandas upload step. Diagnosed down to the upload itself: Python's own date logic is correct; the corruption happens specifically during the write to Snowflake. Flagged upstream with the diagnostic detail.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8225" y="7649337"/>
            <a:ext cx="4800600" cy="480060"/>
            <a:chOff x="0" y="0"/>
            <a:chExt cx="64008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B5BD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8225" y="8129397"/>
            <a:ext cx="5074920" cy="1645920"/>
            <a:chOff x="0" y="0"/>
            <a:chExt cx="676656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active_within_28_days, days_active_span, and median_days_to_complete are unreliable until resolved.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24625" y="7649337"/>
            <a:ext cx="4800600" cy="480060"/>
            <a:chOff x="0" y="0"/>
            <a:chExt cx="6400800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2B88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Unaffected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24625" y="8129397"/>
            <a:ext cx="5074920" cy="1645920"/>
            <a:chOff x="0" y="0"/>
            <a:chExt cx="676656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Completion rates, reconciliation buckets, and all other metrics do not depend on these columns and are confirmed correct.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11025" y="7649337"/>
            <a:ext cx="4800600" cy="480060"/>
            <a:chOff x="0" y="0"/>
            <a:chExt cx="640080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7048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 step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11025" y="8129397"/>
            <a:ext cx="5074920" cy="1645920"/>
            <a:chOff x="0" y="0"/>
            <a:chExt cx="676656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665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7665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Fix at the source, reload raw tables, re-run dbt build, and update these two metrics.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KNOWN ISSUES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3400425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A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 SOURCE-LEVEL BUG, FOUND AND DIAGNOSED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179913"/>
            <a:ext cx="1077509" cy="0"/>
          </a:xfrm>
          <a:prstGeom prst="line">
            <a:avLst/>
          </a:prstGeom>
          <a:ln cap="flat" w="95250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71673" y="4267624"/>
            <a:ext cx="2838501" cy="4105717"/>
            <a:chOff x="0" y="0"/>
            <a:chExt cx="997841" cy="14433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7275" y="0"/>
                  </a:moveTo>
                  <a:lnTo>
                    <a:pt x="970567" y="0"/>
                  </a:lnTo>
                  <a:cubicBezTo>
                    <a:pt x="977800" y="0"/>
                    <a:pt x="984738" y="2874"/>
                    <a:pt x="989853" y="7989"/>
                  </a:cubicBezTo>
                  <a:cubicBezTo>
                    <a:pt x="994968" y="13104"/>
                    <a:pt x="997841" y="20041"/>
                    <a:pt x="997841" y="27275"/>
                  </a:cubicBezTo>
                  <a:lnTo>
                    <a:pt x="997841" y="1416042"/>
                  </a:lnTo>
                  <a:cubicBezTo>
                    <a:pt x="997841" y="1423275"/>
                    <a:pt x="994968" y="1430213"/>
                    <a:pt x="989853" y="1435328"/>
                  </a:cubicBezTo>
                  <a:cubicBezTo>
                    <a:pt x="984738" y="1440443"/>
                    <a:pt x="977800" y="1443316"/>
                    <a:pt x="970567" y="1443316"/>
                  </a:cubicBezTo>
                  <a:lnTo>
                    <a:pt x="27275" y="1443316"/>
                  </a:lnTo>
                  <a:cubicBezTo>
                    <a:pt x="20041" y="1443316"/>
                    <a:pt x="13104" y="1440443"/>
                    <a:pt x="7989" y="1435328"/>
                  </a:cubicBezTo>
                  <a:cubicBezTo>
                    <a:pt x="2874" y="1430213"/>
                    <a:pt x="0" y="1423275"/>
                    <a:pt x="0" y="1416042"/>
                  </a:cubicBezTo>
                  <a:lnTo>
                    <a:pt x="0" y="27275"/>
                  </a:lnTo>
                  <a:cubicBezTo>
                    <a:pt x="0" y="20041"/>
                    <a:pt x="2874" y="13104"/>
                    <a:pt x="7989" y="7989"/>
                  </a:cubicBezTo>
                  <a:cubicBezTo>
                    <a:pt x="13104" y="2874"/>
                    <a:pt x="20041" y="0"/>
                    <a:pt x="27275" y="0"/>
                  </a:cubicBezTo>
                  <a:close/>
                </a:path>
              </a:pathLst>
            </a:custGeom>
            <a:solidFill>
              <a:srgbClr val="FF8A80">
                <a:alpha val="19608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04875"/>
            <a:ext cx="6923762" cy="97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spc="-224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5455" y="6091148"/>
            <a:ext cx="2460927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Repo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rt both completion rates side by side, permanently. Do 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ot collapse them into one number.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6816" y="4353385"/>
            <a:ext cx="1352982" cy="11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0"/>
              </a:lnSpc>
              <a:spcBef>
                <a:spcPct val="0"/>
              </a:spcBef>
            </a:pPr>
            <a:r>
              <a:rPr lang="en-US" b="true" sz="6592" spc="13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309713" y="4267624"/>
            <a:ext cx="2838501" cy="4105717"/>
            <a:chOff x="0" y="0"/>
            <a:chExt cx="997841" cy="14433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7275" y="0"/>
                  </a:moveTo>
                  <a:lnTo>
                    <a:pt x="970567" y="0"/>
                  </a:lnTo>
                  <a:cubicBezTo>
                    <a:pt x="977800" y="0"/>
                    <a:pt x="984738" y="2874"/>
                    <a:pt x="989853" y="7989"/>
                  </a:cubicBezTo>
                  <a:cubicBezTo>
                    <a:pt x="994968" y="13104"/>
                    <a:pt x="997841" y="20041"/>
                    <a:pt x="997841" y="27275"/>
                  </a:cubicBezTo>
                  <a:lnTo>
                    <a:pt x="997841" y="1416042"/>
                  </a:lnTo>
                  <a:cubicBezTo>
                    <a:pt x="997841" y="1423275"/>
                    <a:pt x="994968" y="1430213"/>
                    <a:pt x="989853" y="1435328"/>
                  </a:cubicBezTo>
                  <a:cubicBezTo>
                    <a:pt x="984738" y="1440443"/>
                    <a:pt x="977800" y="1443316"/>
                    <a:pt x="970567" y="1443316"/>
                  </a:cubicBezTo>
                  <a:lnTo>
                    <a:pt x="27275" y="1443316"/>
                  </a:lnTo>
                  <a:cubicBezTo>
                    <a:pt x="20041" y="1443316"/>
                    <a:pt x="13104" y="1440443"/>
                    <a:pt x="7989" y="1435328"/>
                  </a:cubicBezTo>
                  <a:cubicBezTo>
                    <a:pt x="2874" y="1430213"/>
                    <a:pt x="0" y="1423275"/>
                    <a:pt x="0" y="1416042"/>
                  </a:cubicBezTo>
                  <a:lnTo>
                    <a:pt x="0" y="27275"/>
                  </a:lnTo>
                  <a:cubicBezTo>
                    <a:pt x="0" y="20041"/>
                    <a:pt x="2874" y="13104"/>
                    <a:pt x="7989" y="7989"/>
                  </a:cubicBezTo>
                  <a:cubicBezTo>
                    <a:pt x="13104" y="2874"/>
                    <a:pt x="20041" y="0"/>
                    <a:pt x="27275" y="0"/>
                  </a:cubicBezTo>
                  <a:close/>
                </a:path>
              </a:pathLst>
            </a:custGeom>
            <a:solidFill>
              <a:srgbClr val="FF8A80">
                <a:alpha val="4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498500" y="6091148"/>
            <a:ext cx="2460927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Ship fct_enrollments and mart_complet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ion_reconciliation as the shared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ource of truth both teams query directly.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69862" y="4353385"/>
            <a:ext cx="1355239" cy="11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0"/>
              </a:lnSpc>
              <a:spcBef>
                <a:spcPct val="0"/>
              </a:spcBef>
            </a:pPr>
            <a:r>
              <a:rPr lang="en-US" b="true" sz="6592" spc="13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547752" y="4267624"/>
            <a:ext cx="2838501" cy="4105717"/>
            <a:chOff x="0" y="0"/>
            <a:chExt cx="997841" cy="14433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7275" y="0"/>
                  </a:moveTo>
                  <a:lnTo>
                    <a:pt x="970567" y="0"/>
                  </a:lnTo>
                  <a:cubicBezTo>
                    <a:pt x="977800" y="0"/>
                    <a:pt x="984738" y="2874"/>
                    <a:pt x="989853" y="7989"/>
                  </a:cubicBezTo>
                  <a:cubicBezTo>
                    <a:pt x="994968" y="13104"/>
                    <a:pt x="997841" y="20041"/>
                    <a:pt x="997841" y="27275"/>
                  </a:cubicBezTo>
                  <a:lnTo>
                    <a:pt x="997841" y="1416042"/>
                  </a:lnTo>
                  <a:cubicBezTo>
                    <a:pt x="997841" y="1423275"/>
                    <a:pt x="994968" y="1430213"/>
                    <a:pt x="989853" y="1435328"/>
                  </a:cubicBezTo>
                  <a:cubicBezTo>
                    <a:pt x="984738" y="1440443"/>
                    <a:pt x="977800" y="1443316"/>
                    <a:pt x="970567" y="1443316"/>
                  </a:cubicBezTo>
                  <a:lnTo>
                    <a:pt x="27275" y="1443316"/>
                  </a:lnTo>
                  <a:cubicBezTo>
                    <a:pt x="20041" y="1443316"/>
                    <a:pt x="13104" y="1440443"/>
                    <a:pt x="7989" y="1435328"/>
                  </a:cubicBezTo>
                  <a:cubicBezTo>
                    <a:pt x="2874" y="1430213"/>
                    <a:pt x="0" y="1423275"/>
                    <a:pt x="0" y="1416042"/>
                  </a:cubicBezTo>
                  <a:lnTo>
                    <a:pt x="0" y="27275"/>
                  </a:lnTo>
                  <a:cubicBezTo>
                    <a:pt x="0" y="20041"/>
                    <a:pt x="2874" y="13104"/>
                    <a:pt x="7989" y="7989"/>
                  </a:cubicBezTo>
                  <a:cubicBezTo>
                    <a:pt x="13104" y="2874"/>
                    <a:pt x="20041" y="0"/>
                    <a:pt x="27275" y="0"/>
                  </a:cubicBezTo>
                  <a:close/>
                </a:path>
              </a:pathLst>
            </a:custGeom>
            <a:solidFill>
              <a:srgbClr val="FF8A80">
                <a:alpha val="6980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731545" y="6091148"/>
            <a:ext cx="2460927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Use the reconciliation bucket breakdown as the s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tanding reference whenever the two numbers are questioned.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02907" y="4353385"/>
            <a:ext cx="1355239" cy="11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0"/>
              </a:lnSpc>
              <a:spcBef>
                <a:spcPct val="0"/>
              </a:spcBef>
            </a:pPr>
            <a:r>
              <a:rPr lang="en-US" b="true" sz="6592" spc="13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785792" y="4267624"/>
            <a:ext cx="2838501" cy="4105717"/>
            <a:chOff x="0" y="0"/>
            <a:chExt cx="997841" cy="14433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7275" y="0"/>
                  </a:moveTo>
                  <a:lnTo>
                    <a:pt x="970567" y="0"/>
                  </a:lnTo>
                  <a:cubicBezTo>
                    <a:pt x="977800" y="0"/>
                    <a:pt x="984738" y="2874"/>
                    <a:pt x="989853" y="7989"/>
                  </a:cubicBezTo>
                  <a:cubicBezTo>
                    <a:pt x="994968" y="13104"/>
                    <a:pt x="997841" y="20041"/>
                    <a:pt x="997841" y="27275"/>
                  </a:cubicBezTo>
                  <a:lnTo>
                    <a:pt x="997841" y="1416042"/>
                  </a:lnTo>
                  <a:cubicBezTo>
                    <a:pt x="997841" y="1423275"/>
                    <a:pt x="994968" y="1430213"/>
                    <a:pt x="989853" y="1435328"/>
                  </a:cubicBezTo>
                  <a:cubicBezTo>
                    <a:pt x="984738" y="1440443"/>
                    <a:pt x="977800" y="1443316"/>
                    <a:pt x="970567" y="1443316"/>
                  </a:cubicBezTo>
                  <a:lnTo>
                    <a:pt x="27275" y="1443316"/>
                  </a:lnTo>
                  <a:cubicBezTo>
                    <a:pt x="20041" y="1443316"/>
                    <a:pt x="13104" y="1440443"/>
                    <a:pt x="7989" y="1435328"/>
                  </a:cubicBezTo>
                  <a:cubicBezTo>
                    <a:pt x="2874" y="1430213"/>
                    <a:pt x="0" y="1423275"/>
                    <a:pt x="0" y="1416042"/>
                  </a:cubicBezTo>
                  <a:lnTo>
                    <a:pt x="0" y="27275"/>
                  </a:lnTo>
                  <a:cubicBezTo>
                    <a:pt x="0" y="20041"/>
                    <a:pt x="2874" y="13104"/>
                    <a:pt x="7989" y="7989"/>
                  </a:cubicBezTo>
                  <a:cubicBezTo>
                    <a:pt x="13104" y="2874"/>
                    <a:pt x="20041" y="0"/>
                    <a:pt x="27275" y="0"/>
                  </a:cubicBezTo>
                  <a:close/>
                </a:path>
              </a:pathLst>
            </a:custGeom>
            <a:solidFill>
              <a:srgbClr val="FF8A80">
                <a:alpha val="8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964591" y="6091148"/>
            <a:ext cx="2460927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2" indent="-161926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Fix the platform's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overnight status job separately. It disagrees with both definitions and misses the en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ire 'tested out' population.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035953" y="4353385"/>
            <a:ext cx="1355239" cy="11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0"/>
              </a:lnSpc>
              <a:spcBef>
                <a:spcPct val="0"/>
              </a:spcBef>
            </a:pPr>
            <a:r>
              <a:rPr lang="en-US" b="true" sz="6592" spc="13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260460" y="5823543"/>
            <a:ext cx="2460927" cy="0"/>
          </a:xfrm>
          <a:prstGeom prst="line">
            <a:avLst/>
          </a:prstGeom>
          <a:ln cap="flat" w="28575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4498500" y="5823543"/>
            <a:ext cx="2460927" cy="0"/>
          </a:xfrm>
          <a:prstGeom prst="line">
            <a:avLst/>
          </a:prstGeom>
          <a:ln cap="flat" w="28575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7736539" y="5823543"/>
            <a:ext cx="2460927" cy="0"/>
          </a:xfrm>
          <a:prstGeom prst="line">
            <a:avLst/>
          </a:prstGeom>
          <a:ln cap="flat" w="28575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0974579" y="5823543"/>
            <a:ext cx="2460927" cy="0"/>
          </a:xfrm>
          <a:prstGeom prst="line">
            <a:avLst/>
          </a:prstGeom>
          <a:ln cap="flat" w="28575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4024343" y="4267624"/>
            <a:ext cx="2838501" cy="4105717"/>
            <a:chOff x="0" y="0"/>
            <a:chExt cx="997841" cy="14433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7841" cy="1443316"/>
            </a:xfrm>
            <a:custGeom>
              <a:avLst/>
              <a:gdLst/>
              <a:ahLst/>
              <a:cxnLst/>
              <a:rect r="r" b="b" t="t" l="l"/>
              <a:pathLst>
                <a:path h="1443316" w="997841">
                  <a:moveTo>
                    <a:pt x="27275" y="0"/>
                  </a:moveTo>
                  <a:lnTo>
                    <a:pt x="970567" y="0"/>
                  </a:lnTo>
                  <a:cubicBezTo>
                    <a:pt x="977800" y="0"/>
                    <a:pt x="984738" y="2874"/>
                    <a:pt x="989853" y="7989"/>
                  </a:cubicBezTo>
                  <a:cubicBezTo>
                    <a:pt x="994968" y="13104"/>
                    <a:pt x="997841" y="20041"/>
                    <a:pt x="997841" y="27275"/>
                  </a:cubicBezTo>
                  <a:lnTo>
                    <a:pt x="997841" y="1416042"/>
                  </a:lnTo>
                  <a:cubicBezTo>
                    <a:pt x="997841" y="1423275"/>
                    <a:pt x="994968" y="1430213"/>
                    <a:pt x="989853" y="1435328"/>
                  </a:cubicBezTo>
                  <a:cubicBezTo>
                    <a:pt x="984738" y="1440443"/>
                    <a:pt x="977800" y="1443316"/>
                    <a:pt x="970567" y="1443316"/>
                  </a:cubicBezTo>
                  <a:lnTo>
                    <a:pt x="27275" y="1443316"/>
                  </a:lnTo>
                  <a:cubicBezTo>
                    <a:pt x="20041" y="1443316"/>
                    <a:pt x="13104" y="1440443"/>
                    <a:pt x="7989" y="1435328"/>
                  </a:cubicBezTo>
                  <a:cubicBezTo>
                    <a:pt x="2874" y="1430213"/>
                    <a:pt x="0" y="1423275"/>
                    <a:pt x="0" y="1416042"/>
                  </a:cubicBezTo>
                  <a:lnTo>
                    <a:pt x="0" y="27275"/>
                  </a:lnTo>
                  <a:cubicBezTo>
                    <a:pt x="0" y="20041"/>
                    <a:pt x="2874" y="13104"/>
                    <a:pt x="7989" y="7989"/>
                  </a:cubicBezTo>
                  <a:cubicBezTo>
                    <a:pt x="13104" y="2874"/>
                    <a:pt x="20041" y="0"/>
                    <a:pt x="27275" y="0"/>
                  </a:cubicBezTo>
                  <a:close/>
                </a:path>
              </a:pathLst>
            </a:custGeom>
            <a:solidFill>
              <a:srgbClr val="FF8A80">
                <a:alpha val="89804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52400"/>
              <a:ext cx="997841" cy="15957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203141" y="6091148"/>
            <a:ext cx="2460927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spcBef>
                <a:spcPct val="0"/>
              </a:spcBef>
              <a:buFont typeface="Arial"/>
              <a:buChar char="•"/>
            </a:pPr>
            <a:r>
              <a:rPr lang="en-US" sz="1500" spc="3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Resolve the s</a:t>
            </a:r>
            <a:r>
              <a:rPr lang="en-US" sz="1500" spc="30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ource timestamp bug before relying on the active-learner or time-to-complete metrics operationally.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74503" y="4353385"/>
            <a:ext cx="1355239" cy="113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30"/>
              </a:lnSpc>
              <a:spcBef>
                <a:spcPct val="0"/>
              </a:spcBef>
            </a:pPr>
            <a:r>
              <a:rPr lang="en-US" b="true" sz="6592" spc="13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name="AutoShape 33" id="33"/>
          <p:cNvSpPr/>
          <p:nvPr/>
        </p:nvSpPr>
        <p:spPr>
          <a:xfrm>
            <a:off x="14213130" y="5823543"/>
            <a:ext cx="2460927" cy="0"/>
          </a:xfrm>
          <a:prstGeom prst="line">
            <a:avLst/>
          </a:prstGeom>
          <a:ln cap="flat" w="28575">
            <a:solidFill>
              <a:srgbClr val="FF5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3400425"/>
            <a:ext cx="81153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REP</a:t>
            </a:r>
            <a:r>
              <a:rPr lang="en-US" b="true" sz="2400" spc="192">
                <a:solidFill>
                  <a:srgbClr val="FF8A80"/>
                </a:solidFill>
                <a:latin typeface="Roboto Bold"/>
                <a:ea typeface="Roboto Bold"/>
                <a:cs typeface="Roboto Bold"/>
                <a:sym typeface="Roboto Bold"/>
              </a:rPr>
              <a:t>ORT BOTH DEFINITIONS, LABELED CLEARLY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DAHTz_W64gk</dc:identifier>
  <dcterms:modified xsi:type="dcterms:W3CDTF">2011-08-01T06:04:30Z</dcterms:modified>
  <cp:revision>1</cp:revision>
  <dc:title>05-capstone-deck.pptx</dc:title>
</cp:coreProperties>
</file>